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0" r:id="rId3"/>
    <p:sldId id="27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4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1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156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707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589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84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14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24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779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396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19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74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35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72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7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525162"/>
            <a:ext cx="10515600" cy="56518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de-DE" sz="2400" dirty="0" err="1"/>
              <a:t>Following</a:t>
            </a:r>
            <a:r>
              <a:rPr lang="de-DE" sz="2400" dirty="0"/>
              <a:t>, </a:t>
            </a:r>
            <a:r>
              <a:rPr lang="de-DE" sz="2400" dirty="0" err="1"/>
              <a:t>you</a:t>
            </a:r>
            <a:r>
              <a:rPr lang="de-DE" sz="2400" dirty="0"/>
              <a:t> will </a:t>
            </a:r>
            <a:r>
              <a:rPr lang="de-DE" sz="2400" dirty="0" err="1"/>
              <a:t>receive</a:t>
            </a:r>
            <a:r>
              <a:rPr lang="de-DE" sz="2400" dirty="0"/>
              <a:t> </a:t>
            </a:r>
            <a:r>
              <a:rPr lang="de-DE" sz="2400" dirty="0" err="1"/>
              <a:t>instructions</a:t>
            </a:r>
            <a:r>
              <a:rPr lang="de-DE" sz="2400" dirty="0"/>
              <a:t> </a:t>
            </a:r>
            <a:r>
              <a:rPr lang="de-DE" sz="2400" dirty="0" err="1"/>
              <a:t>how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work</a:t>
            </a:r>
            <a:r>
              <a:rPr lang="de-DE" sz="2400" dirty="0"/>
              <a:t> </a:t>
            </a:r>
            <a:r>
              <a:rPr lang="de-DE" sz="2400" dirty="0" err="1"/>
              <a:t>through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experiment</a:t>
            </a:r>
            <a:r>
              <a:rPr lang="de-DE" sz="2400" dirty="0"/>
              <a:t>. </a:t>
            </a:r>
            <a:r>
              <a:rPr lang="de-DE" sz="2400" dirty="0" err="1"/>
              <a:t>Please</a:t>
            </a:r>
            <a:r>
              <a:rPr lang="de-DE" sz="2400" dirty="0"/>
              <a:t> </a:t>
            </a:r>
            <a:r>
              <a:rPr lang="de-DE" sz="2400" dirty="0" err="1"/>
              <a:t>read</a:t>
            </a:r>
            <a:r>
              <a:rPr lang="de-DE" sz="2400" dirty="0"/>
              <a:t> </a:t>
            </a:r>
            <a:r>
              <a:rPr lang="de-DE" sz="2400" dirty="0" err="1"/>
              <a:t>them</a:t>
            </a:r>
            <a:r>
              <a:rPr lang="de-DE" sz="2400" dirty="0"/>
              <a:t> </a:t>
            </a:r>
            <a:r>
              <a:rPr lang="de-DE" sz="2400" dirty="0" err="1"/>
              <a:t>carefully</a:t>
            </a:r>
            <a:r>
              <a:rPr lang="de-DE" sz="2400" dirty="0"/>
              <a:t>!</a:t>
            </a:r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navigate</a:t>
            </a:r>
            <a:r>
              <a:rPr lang="de-DE" sz="2400" dirty="0"/>
              <a:t> </a:t>
            </a:r>
            <a:r>
              <a:rPr lang="de-DE" sz="2400" dirty="0" err="1"/>
              <a:t>through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instructions</a:t>
            </a:r>
            <a:r>
              <a:rPr lang="de-DE" sz="2400" dirty="0"/>
              <a:t> </a:t>
            </a:r>
            <a:r>
              <a:rPr lang="de-DE" sz="2400" dirty="0" err="1"/>
              <a:t>by</a:t>
            </a:r>
            <a:r>
              <a:rPr lang="de-DE" sz="2400" dirty="0"/>
              <a:t> </a:t>
            </a:r>
            <a:r>
              <a:rPr lang="de-DE" sz="2400" dirty="0" err="1"/>
              <a:t>using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buttons</a:t>
            </a:r>
            <a:r>
              <a:rPr lang="de-DE" sz="2400" dirty="0"/>
              <a:t> „C“ and „X“</a:t>
            </a:r>
          </a:p>
          <a:p>
            <a:pPr marL="0" indent="0" algn="ctr">
              <a:buNone/>
            </a:pPr>
            <a:endParaRPr lang="de-DE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4A8A1B7-2348-4F05-9597-8A0F7CECF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788"/>
              </p:ext>
            </p:extLst>
          </p:nvPr>
        </p:nvGraphicFramePr>
        <p:xfrm>
          <a:off x="884582" y="6336196"/>
          <a:ext cx="10520570" cy="3876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6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626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Next „C“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4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525162"/>
            <a:ext cx="10515600" cy="56518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en-US" sz="2400" dirty="0"/>
              <a:t>You will be shown a sequence of six words. Each word will appear on the screen individually, and the entire sequence will be presented twice.</a:t>
            </a:r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en-US" sz="2400" dirty="0"/>
              <a:t>Please </a:t>
            </a:r>
            <a:r>
              <a:rPr lang="en-US" sz="2400" b="1" dirty="0"/>
              <a:t>read each word aloud </a:t>
            </a:r>
            <a:r>
              <a:rPr lang="en-US" sz="2400" dirty="0"/>
              <a:t>as it appears. 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After the sequence has been shown two times, you will be asked to </a:t>
            </a:r>
            <a:br>
              <a:rPr lang="en-US" sz="2400" dirty="0"/>
            </a:br>
            <a:r>
              <a:rPr lang="en-US" sz="2400" b="1" dirty="0"/>
              <a:t>recall the words in the same order</a:t>
            </a:r>
            <a:r>
              <a:rPr lang="en-US" sz="2400" dirty="0"/>
              <a:t> in which they were presented.</a:t>
            </a:r>
            <a:endParaRPr lang="de-DE" sz="2400" dirty="0"/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en-US" sz="2400" dirty="0"/>
              <a:t>If you cannot remember a word at a certain position, please say </a:t>
            </a:r>
            <a:r>
              <a:rPr lang="en-US" sz="2400" b="1" dirty="0"/>
              <a:t>“blank”</a:t>
            </a:r>
            <a:r>
              <a:rPr lang="en-US" sz="2400" dirty="0"/>
              <a:t> and continue with the next position.</a:t>
            </a:r>
            <a:endParaRPr lang="de-DE" sz="2400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4A8A1B7-2348-4F05-9597-8A0F7CECF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24202"/>
              </p:ext>
            </p:extLst>
          </p:nvPr>
        </p:nvGraphicFramePr>
        <p:xfrm>
          <a:off x="884582" y="6336196"/>
          <a:ext cx="10520570" cy="3876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6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626">
                <a:tc>
                  <a:txBody>
                    <a:bodyPr/>
                    <a:lstStyle/>
                    <a:p>
                      <a:r>
                        <a:rPr lang="de-DE" dirty="0"/>
                        <a:t>Back: 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Next: 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277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525162"/>
            <a:ext cx="10515600" cy="56518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en-US" sz="2400" dirty="0"/>
              <a:t>The start of each trial is </a:t>
            </a:r>
            <a:r>
              <a:rPr lang="en-US" sz="2400" b="1" dirty="0"/>
              <a:t>self-paced</a:t>
            </a:r>
            <a:r>
              <a:rPr lang="en-US" sz="2400" dirty="0"/>
              <a:t>, meaning you decide when the trial begins.</a:t>
            </a:r>
            <a:endParaRPr lang="de-DE" sz="2400" dirty="0"/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en-US" sz="2400" dirty="0"/>
              <a:t>Before the first word appears, a </a:t>
            </a:r>
            <a:r>
              <a:rPr lang="en-US" sz="2400" b="1" dirty="0"/>
              <a:t>fixation cross (+)</a:t>
            </a:r>
            <a:r>
              <a:rPr lang="en-US" sz="2400" dirty="0"/>
              <a:t> will be displayed to indicate the position where the words will appear.</a:t>
            </a:r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en-US" sz="2400" dirty="0"/>
              <a:t>Next, you will complete </a:t>
            </a:r>
            <a:r>
              <a:rPr lang="en-US" sz="2400" b="1" dirty="0"/>
              <a:t>one training trial</a:t>
            </a:r>
            <a:r>
              <a:rPr lang="en-US" sz="2400" dirty="0"/>
              <a:t> to familiarize yourself with the procedure.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After the training trial, the </a:t>
            </a:r>
            <a:r>
              <a:rPr lang="en-US" sz="2400" b="1" dirty="0"/>
              <a:t>actual experiment</a:t>
            </a:r>
            <a:r>
              <a:rPr lang="en-US" sz="2400" dirty="0"/>
              <a:t> will begin.</a:t>
            </a:r>
            <a:endParaRPr lang="de-DE" sz="2400" dirty="0"/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E4A8A1B7-2348-4F05-9597-8A0F7CECFDD7}"/>
              </a:ext>
            </a:extLst>
          </p:cNvPr>
          <p:cNvGraphicFramePr>
            <a:graphicFrameLocks noGrp="1"/>
          </p:cNvGraphicFramePr>
          <p:nvPr/>
        </p:nvGraphicFramePr>
        <p:xfrm>
          <a:off x="884582" y="6336196"/>
          <a:ext cx="10520570" cy="3876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6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626">
                <a:tc>
                  <a:txBody>
                    <a:bodyPr/>
                    <a:lstStyle/>
                    <a:p>
                      <a:r>
                        <a:rPr lang="de-DE" dirty="0"/>
                        <a:t>Back: 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Start </a:t>
                      </a:r>
                      <a:r>
                        <a:rPr lang="de-DE" dirty="0" err="1"/>
                        <a:t>training</a:t>
                      </a:r>
                      <a:r>
                        <a:rPr lang="de-DE" dirty="0"/>
                        <a:t>: 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36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Breitbild</PresentationFormat>
  <Paragraphs>27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Instr1</dc:title>
  <dc:creator>Schiltenwolf, Moritz</dc:creator>
  <cp:lastModifiedBy>Schiltenwolf, Moritz</cp:lastModifiedBy>
  <cp:revision>81</cp:revision>
  <dcterms:created xsi:type="dcterms:W3CDTF">2019-10-21T11:45:06Z</dcterms:created>
  <dcterms:modified xsi:type="dcterms:W3CDTF">2026-03-12T15:32:03Z</dcterms:modified>
</cp:coreProperties>
</file>